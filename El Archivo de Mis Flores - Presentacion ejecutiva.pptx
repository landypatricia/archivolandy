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1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640080"/>
            <a:ext cx="1737360" cy="1737360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4937760"/>
            <a:ext cx="1280160" cy="1280160"/>
          </a:xfrm>
          <a:prstGeom prst="ellipse">
            <a:avLst/>
          </a:prstGeom>
          <a:solidFill>
            <a:srgbClr val="E31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5669280"/>
            <a:ext cx="1005840" cy="100584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D4A017"/>
                </a:solidFill>
                <a:latin typeface="Calibri"/>
              </a:rPr>
              <a:t>PRESENTACIÓN EJECUTIVA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400" b="1">
                <a:solidFill>
                  <a:srgbClr val="FDFBF6"/>
                </a:solidFill>
                <a:latin typeface="Georgia"/>
              </a:rPr>
              <a:t>El Archivo de Mis Flores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794760"/>
            <a:ext cx="2011680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100" b="0">
                <a:solidFill>
                  <a:srgbClr val="E9F1EB"/>
                </a:solidFill>
                <a:latin typeface="Calibri"/>
              </a:rPr>
              <a:t>La memoria viva de las Embajadoras de la Feria Tabasco,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100" b="0">
                <a:solidFill>
                  <a:srgbClr val="E9F1EB"/>
                </a:solidFill>
                <a:latin typeface="Calibri"/>
              </a:rPr>
              <a:t>reunida por primera vez en un solo lugar.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4A017"/>
                </a:solidFill>
                <a:latin typeface="Calibri"/>
              </a:rPr>
              <a:t>Un archivo digital de acceso abierto   ·   Tabasco, México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31C79"/>
                </a:solidFill>
                <a:latin typeface="Calibri"/>
              </a:rPr>
              <a:t>EN UNA FRASE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0F5132"/>
                </a:solidFill>
                <a:latin typeface="Georgia"/>
              </a:rPr>
              <a:t>¿Qué es El Archivo de Mis Flores?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46304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0">
                <a:solidFill>
                  <a:srgbClr val="0F5132"/>
                </a:solidFill>
                <a:latin typeface="Georgia"/>
              </a:rPr>
              <a:t>Es el lugar donde viven los nombres, los rostros y las historias de todas las mujeres que han representado a su municipio en la Feria Tabasco.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4059935"/>
            <a:ext cx="118872" cy="1188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77639"/>
            <a:ext cx="987552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F5132"/>
                </a:solidFill>
                <a:latin typeface="Calibri"/>
              </a:rPr>
              <a:t>Una por una.</a:t>
            </a:r>
            <a:r>
              <a:rPr sz="1600">
                <a:solidFill>
                  <a:srgbClr val="4A5A52"/>
                </a:solidFill>
                <a:latin typeface="Calibri"/>
              </a:rPr>
              <a:t> Cada embajadora tiene su propia ficha: su nombre, su año, su municipio y todo lo que se sabe de ella.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928615"/>
            <a:ext cx="118872" cy="1188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846319"/>
            <a:ext cx="987552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F5132"/>
                </a:solidFill>
                <a:latin typeface="Calibri"/>
              </a:rPr>
              <a:t>Abierto para todos.</a:t>
            </a:r>
            <a:r>
              <a:rPr sz="1600">
                <a:solidFill>
                  <a:srgbClr val="4A5A52"/>
                </a:solidFill>
                <a:latin typeface="Calibri"/>
              </a:rPr>
              <a:t> Cualquier persona puede entrar, buscar y consultar sin pagar ni registrarse.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5797295"/>
            <a:ext cx="118872" cy="1188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714999"/>
            <a:ext cx="987552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F5132"/>
                </a:solidFill>
                <a:latin typeface="Calibri"/>
              </a:rPr>
              <a:t>Vivo.</a:t>
            </a:r>
            <a:r>
              <a:rPr sz="1600">
                <a:solidFill>
                  <a:srgbClr val="4A5A52"/>
                </a:solidFill>
                <a:latin typeface="Calibri"/>
              </a:rPr>
              <a:t> No es un libro terminado: crece cada vez que una familia aporta una foto o un recuerdo.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31C79"/>
                </a:solidFill>
                <a:latin typeface="Calibri"/>
              </a:rPr>
              <a:t>EL 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0F5132"/>
                </a:solidFill>
                <a:latin typeface="Georgia"/>
              </a:rPr>
              <a:t>¿Por qué hacía falta?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46304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0">
                <a:solidFill>
                  <a:srgbClr val="4A5A52"/>
                </a:solidFill>
                <a:latin typeface="Calibri"/>
              </a:rPr>
              <a:t>La elección de la Flor Tabasco se celebra desde 1956 y tiene antecedentes desde los años treinta. Casi setenta ediciones. Y hasta ahora, ningún lugar las reunía.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310128" cy="237744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520440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E31C79"/>
                </a:solidFill>
                <a:latin typeface="Georgia"/>
              </a:rPr>
              <a:t>Memoria dispersa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14800"/>
            <a:ext cx="267004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A5A52"/>
                </a:solidFill>
                <a:latin typeface="Calibri"/>
              </a:rPr>
              <a:t>Los datos viven en álbumes familiares, recortes de periódico, archivos municipales y en la memoria de quienes lo vivieron.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00400"/>
            <a:ext cx="3310128" cy="237744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520440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E31C79"/>
                </a:solidFill>
                <a:latin typeface="Georgia"/>
              </a:rPr>
              <a:t>Memoria que se pierde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114800"/>
            <a:ext cx="267004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A5A52"/>
                </a:solidFill>
                <a:latin typeface="Calibri"/>
              </a:rPr>
              <a:t>Cada año que pasa se van las personas que podían ponerle nombre a una fotografía sin reverso.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3200400"/>
            <a:ext cx="3310128" cy="237744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520440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E31C79"/>
                </a:solidFill>
                <a:latin typeface="Georgia"/>
              </a:rPr>
              <a:t>Memoria sin registro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114800"/>
            <a:ext cx="267004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A5A52"/>
                </a:solidFill>
                <a:latin typeface="Calibri"/>
              </a:rPr>
              <a:t>Cientos de mujeres representaron a su municipio con orgullo y su paso no quedó asentado en ninguna parte.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31C79"/>
                </a:solidFill>
                <a:latin typeface="Calibri"/>
              </a:rPr>
              <a:t>NUESTRO PROPÓSITO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0F5132"/>
                </a:solidFill>
                <a:latin typeface="Georgia"/>
              </a:rPr>
              <a:t>Misión y visión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46304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074920" cy="329184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0F5132"/>
                </a:solidFill>
                <a:latin typeface="Georgia"/>
              </a:rPr>
              <a:t>Misión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54680"/>
            <a:ext cx="4343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4A5A52"/>
                </a:solidFill>
                <a:latin typeface="Calibri"/>
              </a:rPr>
              <a:t>Preservar, honrar y difundir quiénes fueron las protagonistas de la Feria Tabasco representando a sus municipios, en un archivo de acceso abierto, riguroso y hospitalario.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48840"/>
            <a:ext cx="5074920" cy="3291840"/>
          </a:xfrm>
          <a:prstGeom prst="roundRect">
            <a:avLst>
              <a:gd name="adj" fmla="val 6000"/>
            </a:avLst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51460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D4A017"/>
                </a:solidFill>
                <a:latin typeface="Georgia"/>
              </a:rPr>
              <a:t>Visión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54680"/>
            <a:ext cx="4343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E9F1EB"/>
                </a:solidFill>
                <a:latin typeface="Calibri"/>
              </a:rPr>
              <a:t>Ser el repositorio de referencia de la memoria ferial tabasqueña: una plataforma viva donde familias, cronistas, municipios y patrocinadores confluyen alrededor de la figura de la Embajadora.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31C79"/>
                </a:solidFill>
                <a:latin typeface="Calibri"/>
              </a:rPr>
              <a:t>EL RECORRIDO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0F5132"/>
                </a:solidFill>
                <a:latin typeface="Georgia"/>
              </a:rPr>
              <a:t>Qué encuentra quien entra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46304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3310128" cy="1481328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" y="2514600"/>
            <a:ext cx="457200" cy="38100"/>
          </a:xfrm>
          <a:prstGeom prst="rect">
            <a:avLst/>
          </a:prstGeom>
          <a:solidFill>
            <a:srgbClr val="E31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679192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Embajadoras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2724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4A5A52"/>
                </a:solidFill>
                <a:latin typeface="Calibri"/>
              </a:rPr>
              <a:t>La historia y el legado de cada una de nuestras flores.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3310128" cy="1481328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2514600"/>
            <a:ext cx="457200" cy="38100"/>
          </a:xfrm>
          <a:prstGeom prst="rect">
            <a:avLst/>
          </a:prstGeom>
          <a:solidFill>
            <a:srgbClr val="E31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679192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Archivo por año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108960"/>
            <a:ext cx="2724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4A5A52"/>
                </a:solidFill>
                <a:latin typeface="Calibri"/>
              </a:rPr>
              <a:t>Cada edición de la Feria, desde 1956 hasta hoy.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240280"/>
            <a:ext cx="3310128" cy="1481328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7888" y="2514600"/>
            <a:ext cx="457200" cy="38100"/>
          </a:xfrm>
          <a:prstGeom prst="rect">
            <a:avLst/>
          </a:prstGeom>
          <a:solidFill>
            <a:srgbClr val="E31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679192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Municipios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108960"/>
            <a:ext cx="2724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4A5A52"/>
                </a:solidFill>
                <a:latin typeface="Calibri"/>
              </a:rPr>
              <a:t>Los 17 municipios como puertas de entrada al archivo.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59352"/>
            <a:ext cx="3310128" cy="1481328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5568" y="4233672"/>
            <a:ext cx="457200" cy="38100"/>
          </a:xfrm>
          <a:prstGeom prst="rect">
            <a:avLst/>
          </a:prstGeom>
          <a:solidFill>
            <a:srgbClr val="E31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398264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Flores de Oro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828032"/>
            <a:ext cx="2724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4A5A52"/>
                </a:solidFill>
                <a:latin typeface="Calibri"/>
              </a:rPr>
              <a:t>El podio: la embajadora coronada en cada edición.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59352"/>
            <a:ext cx="3310128" cy="1481328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1728" y="4233672"/>
            <a:ext cx="457200" cy="38100"/>
          </a:xfrm>
          <a:prstGeom prst="rect">
            <a:avLst/>
          </a:prstGeom>
          <a:solidFill>
            <a:srgbClr val="E31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4398264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Lazos entre Flores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828032"/>
            <a:ext cx="2724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4A5A52"/>
                </a:solidFill>
                <a:latin typeface="Calibri"/>
              </a:rPr>
              <a:t>Las dinastías familiares que se repiten por generaciones.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3959352"/>
            <a:ext cx="3310128" cy="1481328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47888" y="4233672"/>
            <a:ext cx="457200" cy="38100"/>
          </a:xfrm>
          <a:prstGeom prst="rect">
            <a:avLst/>
          </a:prstGeom>
          <a:solidFill>
            <a:srgbClr val="E31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398264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Historias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828032"/>
            <a:ext cx="2724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4A5A52"/>
                </a:solidFill>
                <a:latin typeface="Calibri"/>
              </a:rPr>
              <a:t>Vestidos, carros alegóricos, barcos y fotografías recuperadas.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2E7D4F"/>
                </a:solidFill>
                <a:latin typeface="Calibri"/>
              </a:rPr>
              <a:t>Todo se puede buscar por nombre y filtrar por año, municipio, región o distinción.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1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D4A017"/>
                </a:solidFill>
                <a:latin typeface="Calibri"/>
              </a:rPr>
              <a:t>DIMENSIÓN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FDFBF6"/>
                </a:solidFill>
                <a:latin typeface="Georgia"/>
              </a:rPr>
              <a:t>El archivo en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146304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0" b="1">
                <a:solidFill>
                  <a:srgbClr val="D4A017"/>
                </a:solidFill>
                <a:latin typeface="Georgia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E9F1EB"/>
                </a:solidFill>
                <a:latin typeface="Calibri"/>
              </a:rPr>
              <a:t>años de fiesta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E9F1EB"/>
                </a:solidFill>
                <a:latin typeface="Calibri"/>
              </a:rPr>
              <a:t>documentados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83464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0" b="1">
                <a:solidFill>
                  <a:srgbClr val="D4A017"/>
                </a:solidFill>
                <a:latin typeface="Georgia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06908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E9F1EB"/>
                </a:solidFill>
                <a:latin typeface="Calibri"/>
              </a:rPr>
              <a:t>municipios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E9F1EB"/>
                </a:solidFill>
                <a:latin typeface="Calibri"/>
              </a:rPr>
              <a:t>representados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0" b="1">
                <a:solidFill>
                  <a:srgbClr val="D4A017"/>
                </a:solidFill>
                <a:latin typeface="Georgia"/>
              </a:rPr>
              <a:t>1956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06908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E9F1EB"/>
                </a:solidFill>
                <a:latin typeface="Calibri"/>
              </a:rPr>
              <a:t>primera edición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E9F1EB"/>
                </a:solidFill>
                <a:latin typeface="Calibri"/>
              </a:rPr>
              <a:t>de la era moderna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83464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0" b="1">
                <a:solidFill>
                  <a:srgbClr val="D4A017"/>
                </a:solidFill>
                <a:latin typeface="Georgia"/>
              </a:rPr>
              <a:t>+1,200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406908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E9F1EB"/>
                </a:solidFill>
                <a:latin typeface="Calibri"/>
              </a:rPr>
              <a:t>fichas de embajadoras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E9F1EB"/>
                </a:solidFill>
                <a:latin typeface="Calibri"/>
              </a:rPr>
              <a:t>en el acervo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D4A017"/>
                </a:solidFill>
                <a:latin typeface="Calibri"/>
              </a:rPr>
              <a:t>Un registro por cada embajadora, de cada municipio, en cada edición.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31C79"/>
                </a:solidFill>
                <a:latin typeface="Calibri"/>
              </a:rPr>
              <a:t>CÓMO SE CONSTRUYE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0F5132"/>
                </a:solidFill>
                <a:latin typeface="Georgia"/>
              </a:rPr>
              <a:t>El trabajo detrás de cada ficha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46304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276856"/>
            <a:ext cx="118872" cy="1188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987552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F5132"/>
                </a:solidFill>
                <a:latin typeface="Calibri"/>
              </a:rPr>
              <a:t>Entrevistas.</a:t>
            </a:r>
            <a:r>
              <a:rPr sz="1600">
                <a:solidFill>
                  <a:srgbClr val="4A5A52"/>
                </a:solidFill>
                <a:latin typeface="Calibri"/>
              </a:rPr>
              <a:t> Se consulta directamente a ex embajadoras y ex Flores de Tabasco, que confirman nombres, años y detalles.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081528"/>
            <a:ext cx="118872" cy="1188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99232"/>
            <a:ext cx="987552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F5132"/>
                </a:solidFill>
                <a:latin typeface="Calibri"/>
              </a:rPr>
              <a:t>Digitalización.</a:t>
            </a:r>
            <a:r>
              <a:rPr sz="1600">
                <a:solidFill>
                  <a:srgbClr val="4A5A52"/>
                </a:solidFill>
                <a:latin typeface="Calibri"/>
              </a:rPr>
              <a:t> Se recuperan álbumes familiares, libros, revistas y acervos municipales, y se vuelven material consultable.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886200"/>
            <a:ext cx="118872" cy="1188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803904"/>
            <a:ext cx="987552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F5132"/>
                </a:solidFill>
                <a:latin typeface="Calibri"/>
              </a:rPr>
              <a:t>Cruce de fuentes.</a:t>
            </a:r>
            <a:r>
              <a:rPr sz="1600">
                <a:solidFill>
                  <a:srgbClr val="4A5A52"/>
                </a:solidFill>
                <a:latin typeface="Calibri"/>
              </a:rPr>
              <a:t> Ningún dato entra por una sola vía: se contrasta entre documentos, publicaciones y testimonios.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690872"/>
            <a:ext cx="118872" cy="1188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608576"/>
            <a:ext cx="987552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F5132"/>
                </a:solidFill>
                <a:latin typeface="Calibri"/>
              </a:rPr>
              <a:t>Curaduría editorial.</a:t>
            </a:r>
            <a:r>
              <a:rPr sz="1600">
                <a:solidFill>
                  <a:srgbClr val="4A5A52"/>
                </a:solidFill>
                <a:latin typeface="Calibri"/>
              </a:rPr>
              <a:t> Cada aporte de la comunidad pasa por revisión humana antes de publicarse.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495544"/>
            <a:ext cx="118872" cy="1188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413248"/>
            <a:ext cx="987552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F5132"/>
                </a:solidFill>
                <a:latin typeface="Calibri"/>
              </a:rPr>
              <a:t>Fuentes a la vista.</a:t>
            </a:r>
            <a:r>
              <a:rPr sz="1600">
                <a:solidFill>
                  <a:srgbClr val="4A5A52"/>
                </a:solidFill>
                <a:latin typeface="Calibri"/>
              </a:rPr>
              <a:t> El sitio publica de dónde salió cada cosa, para que cualquiera pueda comprobarlo.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31C79"/>
                </a:solidFill>
                <a:latin typeface="Calibri"/>
              </a:rPr>
              <a:t>NUESTRO COMPROMISO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0F5132"/>
                </a:solidFill>
                <a:latin typeface="Georgia"/>
              </a:rPr>
              <a:t>Ética y cuidado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46304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0">
                <a:solidFill>
                  <a:srgbClr val="0F5132"/>
                </a:solidFill>
                <a:latin typeface="Georgia"/>
              </a:rPr>
              <a:t>Este archivo habla de personas reales y de sus familias. Eso obliga a trabajar con una regla por delante de todas: decir lo que se sabe, y decir también lo que no se sabe.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033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E31C79"/>
                </a:solidFill>
                <a:latin typeface="Georgia"/>
              </a:rPr>
              <a:t>Transparencia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5196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4A5A52"/>
                </a:solidFill>
                <a:latin typeface="Calibri"/>
              </a:rPr>
              <a:t>Cada perfil indica cómo fue verificada su información.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42900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7033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E31C79"/>
                </a:solidFill>
                <a:latin typeface="Georgia"/>
              </a:rPr>
              <a:t>Derecho a corregir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25196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4A5A52"/>
                </a:solidFill>
                <a:latin typeface="Calibri"/>
              </a:rPr>
              <a:t>Las familias pueden pedir una corrección o el retiro de un contenido.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42900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7033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E31C79"/>
                </a:solidFill>
                <a:latin typeface="Georgia"/>
              </a:rPr>
              <a:t>Origen legítimo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25196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4A5A52"/>
                </a:solidFill>
                <a:latin typeface="Calibri"/>
              </a:rPr>
              <a:t>Las fotografías provienen de dominio público, ayuntamientos, publicaciones o de las propias familias.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342900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7033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E31C79"/>
                </a:solidFill>
                <a:latin typeface="Georgia"/>
              </a:rPr>
              <a:t>Honestidad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25196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4A5A52"/>
                </a:solidFill>
                <a:latin typeface="Calibri"/>
              </a:rPr>
              <a:t>Cuando un dato no pudo confirmarse, se dice. Hay ediciones de las que ya casi nadie recuerda.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31C79"/>
                </a:solidFill>
                <a:latin typeface="Calibri"/>
              </a:rPr>
              <a:t>EL MOTOR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0F5132"/>
                </a:solidFill>
                <a:latin typeface="Georgia"/>
              </a:rPr>
              <a:t>Un archivo que crece con la 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46304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F5132"/>
                </a:solidFill>
                <a:latin typeface="Georgia"/>
              </a:rPr>
              <a:t>La pieza que falta casi siempre la tiene una familia.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5943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600" b="0">
                <a:solidFill>
                  <a:srgbClr val="4A5A52"/>
                </a:solidFill>
                <a:latin typeface="Calibri"/>
              </a:rPr>
              <a:t>Cualquier persona puede aportar una fotografía, una carta, un nombre o un recuerdo desde el propio sitio. El equipo editorial lo revisa, lo contrasta y lo integra dando siempre crédito a quien lo aportó.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600" b="0">
                <a:solidFill>
                  <a:srgbClr val="4A5A52"/>
                </a:solidFill>
                <a:latin typeface="Calibri"/>
              </a:rPr>
              <a:t>Así, una nieta que sube el retrato de su abuela completa una ficha que llevaba décadas vacía.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148840"/>
            <a:ext cx="4114800" cy="3291840"/>
          </a:xfrm>
          <a:prstGeom prst="roundRect">
            <a:avLst>
              <a:gd name="adj" fmla="val 6000"/>
            </a:avLst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5146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D4A017"/>
                </a:solidFill>
                <a:latin typeface="Georgia"/>
              </a:rPr>
              <a:t>El circuito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246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DFBF6"/>
                </a:solidFill>
                <a:latin typeface="Calibri"/>
              </a:rPr>
              <a:t>1    La comunidad aporta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8130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DFBF6"/>
                </a:solidFill>
                <a:latin typeface="Calibri"/>
              </a:rPr>
              <a:t>2    El equipo verifica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37997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DFBF6"/>
                </a:solidFill>
                <a:latin typeface="Calibri"/>
              </a:rPr>
              <a:t>3    Se contrasta con fuentes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94690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DFBF6"/>
                </a:solidFill>
                <a:latin typeface="Calibri"/>
              </a:rPr>
              <a:t>4    Se publica con crédito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31C79"/>
                </a:solidFill>
                <a:latin typeface="Calibri"/>
              </a:rPr>
              <a:t>SOSTENIBILIDAD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0F5132"/>
                </a:solidFill>
                <a:latin typeface="Georgia"/>
              </a:rPr>
              <a:t>Patrocinios patrimoniales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46304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0F5132"/>
                </a:solidFill>
                <a:latin typeface="Georgia"/>
              </a:rPr>
              <a:t>No vendemos banners. Convertimos a las marcas en piezas del propio archivo.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50" b="0">
                <a:solidFill>
                  <a:srgbClr val="4A5A52"/>
                </a:solidFill>
                <a:latin typeface="Calibri"/>
              </a:rPr>
              <a:t>Un patrocinio aquí no interrumpe la visita con publicidad: se integra editorialmente, con nombre propio y presencia patrimonial, asociado a la memoria que ayuda a rescatar.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3310128" cy="182880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434840"/>
            <a:ext cx="2724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31C79"/>
                </a:solidFill>
                <a:latin typeface="Georgia"/>
              </a:rPr>
              <a:t>Para la marca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910328"/>
            <a:ext cx="27249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0">
                <a:solidFill>
                  <a:srgbClr val="4A5A52"/>
                </a:solidFill>
                <a:latin typeface="Calibri"/>
              </a:rPr>
              <a:t>Asociación directa con una tradición querida por todo Tabasco, en un entorno cuidado y sin ruido publicitario.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160520"/>
            <a:ext cx="3310128" cy="182880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4434840"/>
            <a:ext cx="2724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31C79"/>
                </a:solidFill>
                <a:latin typeface="Georgia"/>
              </a:rPr>
              <a:t>Para el archivo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4910328"/>
            <a:ext cx="27249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0">
                <a:solidFill>
                  <a:srgbClr val="4A5A52"/>
                </a:solidFill>
                <a:latin typeface="Calibri"/>
              </a:rPr>
              <a:t>Financia la digitalización, las entrevistas y la curaduría que hacen posible cada nueva ficha.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160520"/>
            <a:ext cx="3310128" cy="1828800"/>
          </a:xfrm>
          <a:prstGeom prst="roundRect">
            <a:avLst>
              <a:gd name="adj" fmla="val 6000"/>
            </a:avLst>
          </a:prstGeom>
          <a:solidFill>
            <a:srgbClr val="F6EFDC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4434840"/>
            <a:ext cx="2724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31C79"/>
                </a:solidFill>
                <a:latin typeface="Georgia"/>
              </a:rPr>
              <a:t>Para el público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4910328"/>
            <a:ext cx="27249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0">
                <a:solidFill>
                  <a:srgbClr val="4A5A52"/>
                </a:solidFill>
                <a:latin typeface="Calibri"/>
              </a:rPr>
              <a:t>La experiencia sigue siendo limpia: nadie tiene que esquivar anuncios para leer una historia.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31C79"/>
                </a:solidFill>
                <a:latin typeface="Calibri"/>
              </a:rPr>
              <a:t>ESTADO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0F5132"/>
                </a:solidFill>
                <a:latin typeface="Georgia"/>
              </a:rPr>
              <a:t>En qué etapa estamos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46304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868680" cy="749808"/>
          </a:xfrm>
          <a:prstGeom prst="roundRect">
            <a:avLst>
              <a:gd name="adj" fmla="val 6000"/>
            </a:avLst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FDFBF6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86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Núcleo editorial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61518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4A5A52"/>
                </a:solidFill>
                <a:latin typeface="Calibri"/>
              </a:rPr>
              <a:t>Definir qué se guarda de cada embajadora y cómo se ordena.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4323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E7D4F"/>
                </a:solidFill>
                <a:latin typeface="Calibri"/>
              </a:rPr>
              <a:t>Completado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90672"/>
            <a:ext cx="868680" cy="749808"/>
          </a:xfrm>
          <a:prstGeom prst="roundRect">
            <a:avLst>
              <a:gd name="adj" fmla="val 6000"/>
            </a:avLst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73552"/>
            <a:ext cx="868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FDFBF6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1821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Recopilación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51129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4A5A52"/>
                </a:solidFill>
                <a:latin typeface="Calibri"/>
              </a:rPr>
              <a:t>Reunir y digitalizar documentos, recortes y fotografías.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32841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E7D4F"/>
                </a:solidFill>
                <a:latin typeface="Calibri"/>
              </a:rPr>
              <a:t>Completado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86784"/>
            <a:ext cx="868680" cy="749808"/>
          </a:xfrm>
          <a:prstGeom prst="roundRect">
            <a:avLst>
              <a:gd name="adj" fmla="val 6000"/>
            </a:avLst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9664"/>
            <a:ext cx="868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FDFBF6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07822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Comprobación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407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4A5A52"/>
                </a:solidFill>
                <a:latin typeface="Calibri"/>
              </a:rPr>
              <a:t>Cruzar y confirmar la información recabada.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22452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E7D4F"/>
                </a:solidFill>
                <a:latin typeface="Calibri"/>
              </a:rPr>
              <a:t>Completado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82896"/>
            <a:ext cx="868680" cy="749808"/>
          </a:xfrm>
          <a:prstGeom prst="roundRect">
            <a:avLst>
              <a:gd name="adj" fmla="val 6000"/>
            </a:avLst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65776"/>
            <a:ext cx="868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FDFBF6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97433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Plataforma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4A5A52"/>
                </a:solidFill>
                <a:latin typeface="Calibri"/>
              </a:rPr>
              <a:t>Construir el sitio: imagen, diseño, nombre y contenido.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51206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E7D4F"/>
                </a:solidFill>
                <a:latin typeface="Calibri"/>
              </a:rPr>
              <a:t>Completado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779008"/>
            <a:ext cx="868680" cy="74980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961888"/>
            <a:ext cx="868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0F5132"/>
                </a:solidFill>
                <a:latin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8704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F5132"/>
                </a:solidFill>
                <a:latin typeface="Georgia"/>
              </a:rPr>
              <a:t>Crecimiento abierto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61996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4A5A52"/>
                </a:solidFill>
                <a:latin typeface="Calibri"/>
              </a:rPr>
              <a:t>Sumar aportes de la comunidad y escribir las historias de fondo.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0167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31C79"/>
                </a:solidFill>
                <a:latin typeface="Calibri"/>
              </a:rPr>
              <a:t>En curso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1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023360"/>
            <a:ext cx="2377440" cy="2377440"/>
          </a:xfrm>
          <a:prstGeom prst="ellipse">
            <a:avLst/>
          </a:prstGeom>
          <a:solidFill>
            <a:srgbClr val="E31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DFBF6"/>
                </a:solidFill>
                <a:latin typeface="Georgia"/>
              </a:rPr>
              <a:t>Cada flor cuenta una historia.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2011680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703320"/>
            <a:ext cx="8412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000" b="0">
                <a:solidFill>
                  <a:srgbClr val="E9F1EB"/>
                </a:solidFill>
                <a:latin typeface="Calibri"/>
              </a:rPr>
              <a:t>Y muchas de ellas no estaban escritas en ningún lado.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000" b="0">
                <a:solidFill>
                  <a:srgbClr val="E9F1EB"/>
                </a:solidFill>
                <a:latin typeface="Calibri"/>
              </a:rPr>
              <a:t>El Archivo de Mis Flores existe para que dejen de perderse.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D4A017"/>
                </a:solidFill>
                <a:latin typeface="Calibri"/>
              </a:rPr>
              <a:t>Un archivo vivo y en fiesta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